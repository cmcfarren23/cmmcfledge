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2" r:id="rId7"/>
    <p:sldId id="269" r:id="rId8"/>
    <p:sldId id="270" r:id="rId9"/>
  </p:sldIdLst>
  <p:sldSz cx="9144000" cy="5143500" type="screen16x9"/>
  <p:notesSz cx="6858000" cy="9144000"/>
  <p:embeddedFontLst>
    <p:embeddedFont>
      <p:font typeface="Average" panose="020B0604020202020204" charset="0"/>
      <p:regular r:id="rId11"/>
    </p:embeddedFont>
    <p:embeddedFont>
      <p:font typeface="Oswald" panose="00000500000000000000" pitchFamily="2" charset="0"/>
      <p:regular r:id="rId12"/>
      <p:bold r:id="rId1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34" y="12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8611bc7d9d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8611bc7d9d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8bdfd32189_0_1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8bdfd32189_0_1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8611bc7d9d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8611bc7d9d_0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8c4f1fcb92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8c4f1fcb92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8c4f1fcb92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8c4f1fcb92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8611bc7d9d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8611bc7d9d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8611bc7d9d_0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8611bc7d9d_0_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oogle Shape;11;p2"/>
          <p:cNvGrpSpPr/>
          <p:nvPr/>
        </p:nvGrpSpPr>
        <p:grpSpPr>
          <a:xfrm>
            <a:off x="4350279" y="2855377"/>
            <a:ext cx="443589" cy="105632"/>
            <a:chOff x="4137525" y="2915950"/>
            <a:chExt cx="869100" cy="207000"/>
          </a:xfrm>
        </p:grpSpPr>
        <p:sp>
          <p:nvSpPr>
            <p:cNvPr id="12" name="Google Shape;12;p2"/>
            <p:cNvSpPr/>
            <p:nvPr/>
          </p:nvSpPr>
          <p:spPr>
            <a:xfrm>
              <a:off x="446857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47996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41375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" name="Google Shape;15;p2"/>
          <p:cNvSpPr txBox="1">
            <a:spLocks noGrp="1"/>
          </p:cNvSpPr>
          <p:nvPr>
            <p:ph type="ctrTitle"/>
          </p:nvPr>
        </p:nvSpPr>
        <p:spPr>
          <a:xfrm>
            <a:off x="671258" y="990800"/>
            <a:ext cx="7801500" cy="1730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ubTitle" idx="1"/>
          </p:nvPr>
        </p:nvSpPr>
        <p:spPr>
          <a:xfrm>
            <a:off x="671250" y="3174876"/>
            <a:ext cx="78015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 txBox="1">
            <a:spLocks noGrp="1"/>
          </p:cNvSpPr>
          <p:nvPr>
            <p:ph type="title"/>
          </p:nvPr>
        </p:nvSpPr>
        <p:spPr>
          <a:xfrm>
            <a:off x="671250" y="2141250"/>
            <a:ext cx="7852200" cy="861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6" name="Google Shape;36;p7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6227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9" name="Google Shape;39;p8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2" name="Google Shape;42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3" name="Google Shape;43;p9"/>
          <p:cNvSpPr txBox="1">
            <a:spLocks noGrp="1"/>
          </p:cNvSpPr>
          <p:nvPr>
            <p:ph type="title"/>
          </p:nvPr>
        </p:nvSpPr>
        <p:spPr>
          <a:xfrm>
            <a:off x="265500" y="1081400"/>
            <a:ext cx="4045200" cy="1710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4" name="Google Shape;44;p9"/>
          <p:cNvSpPr txBox="1">
            <a:spLocks noGrp="1"/>
          </p:cNvSpPr>
          <p:nvPr>
            <p:ph type="subTitle" idx="1"/>
          </p:nvPr>
        </p:nvSpPr>
        <p:spPr>
          <a:xfrm>
            <a:off x="265500" y="2845201"/>
            <a:ext cx="4045200" cy="134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5" name="Google Shape;45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Oswald"/>
              <a:buNone/>
              <a:defRPr sz="21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</a:lstStyle>
          <a:p>
            <a:endParaRPr/>
          </a:p>
        </p:txBody>
      </p:sp>
      <p:sp>
        <p:nvSpPr>
          <p:cNvPr id="49" name="Google Shape;49;p10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255275"/>
            <a:ext cx="8520600" cy="1890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2" name="Google Shape;52;p11"/>
          <p:cNvSpPr txBox="1">
            <a:spLocks noGrp="1"/>
          </p:cNvSpPr>
          <p:nvPr>
            <p:ph type="body" idx="1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3" name="Google Shape;53;p11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2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late">
    <p:bg>
      <p:bgPr>
        <a:solidFill>
          <a:srgbClr val="79009B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verage"/>
              <a:buChar char="●"/>
              <a:defRPr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lvl="1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lvl="2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lvl="3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lvl="4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lvl="5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lvl="6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lvl="7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lvl="8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" name="Google Shape;9;p1" title="ChatGPT Image Oct 11, 2025, 07_07_33 PM.png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0" y="4421450"/>
            <a:ext cx="722051" cy="722051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3"/>
          <p:cNvSpPr txBox="1">
            <a:spLocks noGrp="1"/>
          </p:cNvSpPr>
          <p:nvPr>
            <p:ph type="ctrTitle"/>
          </p:nvPr>
        </p:nvSpPr>
        <p:spPr>
          <a:xfrm>
            <a:off x="671258" y="990800"/>
            <a:ext cx="7801500" cy="1730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The CMMC Fledge System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1" name="Google Shape;61;p13"/>
          <p:cNvSpPr txBox="1">
            <a:spLocks noGrp="1"/>
          </p:cNvSpPr>
          <p:nvPr>
            <p:ph type="subTitle" idx="1"/>
          </p:nvPr>
        </p:nvSpPr>
        <p:spPr>
          <a:xfrm>
            <a:off x="671250" y="3174876"/>
            <a:ext cx="78015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Manager: Connor McFarren</a:t>
            </a:r>
            <a:endParaRPr/>
          </a:p>
        </p:txBody>
      </p:sp>
      <p:pic>
        <p:nvPicPr>
          <p:cNvPr id="62" name="Google Shape;62;p13" title="ChatGPT Image Oct 11, 2025, 07_07_33 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04074" y="-141575"/>
            <a:ext cx="2335875" cy="2335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Topics</a:t>
            </a:r>
            <a:endParaRPr/>
          </a:p>
        </p:txBody>
      </p:sp>
      <p:sp>
        <p:nvSpPr>
          <p:cNvPr id="68" name="Google Shape;68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dirty="0">
                <a:solidFill>
                  <a:schemeClr val="dk1"/>
                </a:solidFill>
              </a:rPr>
              <a:t>Background Information on CMMC 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dirty="0">
                <a:solidFill>
                  <a:schemeClr val="dk1"/>
                </a:solidFill>
              </a:rPr>
              <a:t>What is the CMMC Fledge System?</a:t>
            </a:r>
            <a:endParaRPr dirty="0"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dirty="0">
                <a:solidFill>
                  <a:schemeClr val="dk1"/>
                </a:solidFill>
              </a:rPr>
              <a:t>Progress so far</a:t>
            </a:r>
            <a:endParaRPr dirty="0">
              <a:solidFill>
                <a:schemeClr val="dk1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-US" dirty="0">
                <a:solidFill>
                  <a:schemeClr val="dk1"/>
                </a:solidFill>
              </a:rPr>
              <a:t>Local working Environment Established</a:t>
            </a: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-US" dirty="0">
                <a:solidFill>
                  <a:schemeClr val="dk1"/>
                </a:solidFill>
              </a:rPr>
              <a:t>Basic Assessment added</a:t>
            </a: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-US" dirty="0">
                <a:solidFill>
                  <a:schemeClr val="dk1"/>
                </a:solidFill>
              </a:rPr>
              <a:t>Basic Report added</a:t>
            </a: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-US" dirty="0">
                <a:solidFill>
                  <a:schemeClr val="dk1"/>
                </a:solidFill>
              </a:rPr>
              <a:t>AWS Account/EC2 Created</a:t>
            </a:r>
            <a:endParaRPr dirty="0"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dirty="0">
                <a:solidFill>
                  <a:schemeClr val="dk1"/>
                </a:solidFill>
              </a:rPr>
              <a:t>Website Walkthrough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dirty="0">
                <a:solidFill>
                  <a:schemeClr val="dk1"/>
                </a:solidFill>
              </a:rPr>
              <a:t>Code Walkthrough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dirty="0">
                <a:solidFill>
                  <a:schemeClr val="dk1"/>
                </a:solidFill>
              </a:rPr>
              <a:t>Next Steps</a:t>
            </a:r>
            <a:endParaRPr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Background</a:t>
            </a:r>
            <a:endParaRPr/>
          </a:p>
        </p:txBody>
      </p:sp>
      <p:sp>
        <p:nvSpPr>
          <p:cNvPr id="74" name="Google Shape;74;p1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●"/>
            </a:pPr>
            <a:r>
              <a:rPr lang="en" sz="15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What is CMMC? </a:t>
            </a:r>
            <a:endParaRPr sz="1500" b="1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Font typeface="Arial"/>
              <a:buChar char="○"/>
            </a:pPr>
            <a:r>
              <a:rPr lang="en" sz="1500" dirty="0">
                <a:latin typeface="Arial"/>
                <a:ea typeface="Arial"/>
                <a:cs typeface="Arial"/>
                <a:sym typeface="Arial"/>
              </a:rPr>
              <a:t>The Cybersecurity Maturity Model Certification (CMMC) is a DoD compliance framework. It utilizes the </a:t>
            </a:r>
            <a:r>
              <a:rPr lang="en" sz="1500">
                <a:latin typeface="Arial"/>
                <a:ea typeface="Arial"/>
                <a:cs typeface="Arial"/>
                <a:sym typeface="Arial"/>
              </a:rPr>
              <a:t>NIST 800-171 rev 2 </a:t>
            </a:r>
            <a:r>
              <a:rPr lang="en" sz="1500" dirty="0">
                <a:latin typeface="Arial"/>
                <a:ea typeface="Arial"/>
                <a:cs typeface="Arial"/>
                <a:sym typeface="Arial"/>
              </a:rPr>
              <a:t>standard.</a:t>
            </a:r>
            <a:endParaRPr sz="1500" dirty="0">
              <a:latin typeface="Arial"/>
              <a:ea typeface="Arial"/>
              <a:cs typeface="Arial"/>
              <a:sym typeface="Arial"/>
            </a:endParaRPr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●"/>
            </a:pPr>
            <a:r>
              <a:rPr lang="en" sz="15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Why is CMMC important?</a:t>
            </a:r>
            <a:endParaRPr sz="1500" b="1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Font typeface="Arial"/>
              <a:buChar char="○"/>
            </a:pPr>
            <a:r>
              <a:rPr lang="en" sz="1500" dirty="0">
                <a:latin typeface="Arial"/>
                <a:ea typeface="Arial"/>
                <a:cs typeface="Arial"/>
                <a:sym typeface="Arial"/>
              </a:rPr>
              <a:t>Starting this year and until 2028 CMMC is being rolled out as an mandatory requirement for organizations to contract with the DoD and other parties.</a:t>
            </a:r>
            <a:endParaRPr sz="1500" dirty="0">
              <a:latin typeface="Arial"/>
              <a:ea typeface="Arial"/>
              <a:cs typeface="Arial"/>
              <a:sym typeface="Arial"/>
            </a:endParaRPr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Font typeface="Arial"/>
              <a:buChar char="○"/>
            </a:pPr>
            <a:r>
              <a:rPr lang="en" sz="1500" dirty="0">
                <a:latin typeface="Arial"/>
                <a:ea typeface="Arial"/>
                <a:cs typeface="Arial"/>
                <a:sym typeface="Arial"/>
              </a:rPr>
              <a:t>DoD contracts are lucrative and critical to many businesses</a:t>
            </a:r>
            <a:endParaRPr sz="1500" dirty="0">
              <a:latin typeface="Arial"/>
              <a:ea typeface="Arial"/>
              <a:cs typeface="Arial"/>
              <a:sym typeface="Arial"/>
            </a:endParaRPr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●"/>
            </a:pPr>
            <a:r>
              <a:rPr lang="en" sz="15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How do organizations start the CMMC process?</a:t>
            </a:r>
            <a:r>
              <a:rPr lang="en" sz="15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5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Font typeface="Arial"/>
              <a:buChar char="○"/>
            </a:pPr>
            <a:r>
              <a:rPr lang="en" sz="1500" dirty="0">
                <a:latin typeface="Arial"/>
                <a:ea typeface="Arial"/>
                <a:cs typeface="Arial"/>
                <a:sym typeface="Arial"/>
              </a:rPr>
              <a:t>Many organizations reach out to companies that offer pre-assessment engagements</a:t>
            </a:r>
            <a:endParaRPr sz="1500" dirty="0">
              <a:latin typeface="Arial"/>
              <a:ea typeface="Arial"/>
              <a:cs typeface="Arial"/>
              <a:sym typeface="Arial"/>
            </a:endParaRPr>
          </a:p>
          <a:p>
            <a:pPr marL="1371600" lvl="2" indent="-323850" algn="l" rtl="0">
              <a:spcBef>
                <a:spcPts val="0"/>
              </a:spcBef>
              <a:spcAft>
                <a:spcPts val="0"/>
              </a:spcAft>
              <a:buSzPts val="1500"/>
              <a:buFont typeface="Arial"/>
              <a:buChar char="■"/>
            </a:pPr>
            <a:r>
              <a:rPr lang="en" sz="1500" dirty="0">
                <a:latin typeface="Arial"/>
                <a:ea typeface="Arial"/>
                <a:cs typeface="Arial"/>
                <a:sym typeface="Arial"/>
              </a:rPr>
              <a:t>These are expensive</a:t>
            </a:r>
            <a:endParaRPr sz="1500" dirty="0">
              <a:latin typeface="Arial"/>
              <a:ea typeface="Arial"/>
              <a:cs typeface="Arial"/>
              <a:sym typeface="Arial"/>
            </a:endParaRPr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Font typeface="Arial"/>
              <a:buChar char="○"/>
            </a:pPr>
            <a:r>
              <a:rPr lang="en" sz="1500" dirty="0">
                <a:latin typeface="Arial"/>
                <a:ea typeface="Arial"/>
                <a:cs typeface="Arial"/>
                <a:sym typeface="Arial"/>
              </a:rPr>
              <a:t>Some organizations try to start process themselves</a:t>
            </a:r>
            <a:endParaRPr sz="1500" dirty="0">
              <a:latin typeface="Arial"/>
              <a:ea typeface="Arial"/>
              <a:cs typeface="Arial"/>
              <a:sym typeface="Arial"/>
            </a:endParaRPr>
          </a:p>
          <a:p>
            <a:pPr marL="1371600" lvl="2" indent="-323850" algn="l" rtl="0">
              <a:spcBef>
                <a:spcPts val="0"/>
              </a:spcBef>
              <a:spcAft>
                <a:spcPts val="0"/>
              </a:spcAft>
              <a:buSzPts val="1500"/>
              <a:buFont typeface="Arial"/>
              <a:buChar char="■"/>
            </a:pPr>
            <a:r>
              <a:rPr lang="en" sz="1500" dirty="0">
                <a:latin typeface="Arial"/>
                <a:ea typeface="Arial"/>
                <a:cs typeface="Arial"/>
                <a:sym typeface="Arial"/>
              </a:rPr>
              <a:t>This is time consuming and very convoluted</a:t>
            </a:r>
            <a:endParaRPr sz="1500" dirty="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CMMC Fledge?</a:t>
            </a:r>
            <a:endParaRPr/>
          </a:p>
        </p:txBody>
      </p:sp>
      <p:sp>
        <p:nvSpPr>
          <p:cNvPr id="80" name="Google Shape;80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" sz="2100" dirty="0">
                <a:solidFill>
                  <a:schemeClr val="dk1"/>
                </a:solidFill>
              </a:rPr>
              <a:t>The CMMC Fledge System will try to fix the gap within the market</a:t>
            </a:r>
            <a:endParaRPr sz="21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2100" dirty="0">
              <a:solidFill>
                <a:schemeClr val="dk1"/>
              </a:solidFill>
            </a:endParaRPr>
          </a:p>
          <a:p>
            <a:pPr marL="457200" lvl="0" indent="-36195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" sz="2100" dirty="0">
                <a:solidFill>
                  <a:schemeClr val="dk1"/>
                </a:solidFill>
              </a:rPr>
              <a:t>The CMMC Fledge System will allow organizations to take a quick assessment to see where they stand</a:t>
            </a:r>
            <a:endParaRPr sz="21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2100" dirty="0">
              <a:solidFill>
                <a:schemeClr val="dk1"/>
              </a:solidFill>
            </a:endParaRPr>
          </a:p>
          <a:p>
            <a:pPr marL="457200" lvl="0" indent="-36195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" sz="2100" dirty="0">
                <a:solidFill>
                  <a:schemeClr val="dk1"/>
                </a:solidFill>
              </a:rPr>
              <a:t>At the end of the assessment the CMMC Fledge will provide next steps and show potential gaps in the organizations current system</a:t>
            </a:r>
            <a:endParaRPr sz="2100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Progress from last milestone</a:t>
            </a:r>
            <a:endParaRPr dirty="0"/>
          </a:p>
        </p:txBody>
      </p:sp>
      <p:sp>
        <p:nvSpPr>
          <p:cNvPr id="86" name="Google Shape;86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-US" sz="2200" dirty="0">
                <a:solidFill>
                  <a:schemeClr val="dk1"/>
                </a:solidFill>
              </a:rPr>
              <a:t>XAMPP environment created</a:t>
            </a:r>
            <a:endParaRPr sz="2200" dirty="0"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2200" dirty="0">
              <a:solidFill>
                <a:schemeClr val="dk1"/>
              </a:solidFill>
            </a:endParaRPr>
          </a:p>
          <a:p>
            <a:pPr marL="457200" lvl="0" indent="-3683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-US" sz="2200" dirty="0">
                <a:solidFill>
                  <a:schemeClr val="dk1"/>
                </a:solidFill>
              </a:rPr>
              <a:t>Drafted website and base statements created</a:t>
            </a:r>
          </a:p>
          <a:p>
            <a:pPr marL="457200" lvl="0" indent="-3683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endParaRPr lang="en-US" sz="2200" dirty="0">
              <a:solidFill>
                <a:schemeClr val="dk1"/>
              </a:solidFill>
            </a:endParaRPr>
          </a:p>
          <a:p>
            <a:pPr marL="457200" lvl="0" indent="-3683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-US" sz="2200" dirty="0">
                <a:solidFill>
                  <a:schemeClr val="dk1"/>
                </a:solidFill>
              </a:rPr>
              <a:t>Draft report Generated based on assessment</a:t>
            </a:r>
            <a:endParaRPr sz="2200" dirty="0"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2200" dirty="0">
              <a:solidFill>
                <a:schemeClr val="dk1"/>
              </a:solidFill>
            </a:endParaRPr>
          </a:p>
          <a:p>
            <a:pPr marL="457200" lvl="0" indent="-3683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-US" sz="2200" dirty="0">
                <a:solidFill>
                  <a:schemeClr val="dk1"/>
                </a:solidFill>
              </a:rPr>
              <a:t>AWS Account created, and EC2 provisioned</a:t>
            </a:r>
            <a:endParaRPr sz="2200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9"/>
          <p:cNvSpPr txBox="1">
            <a:spLocks noGrp="1"/>
          </p:cNvSpPr>
          <p:nvPr>
            <p:ph type="title"/>
          </p:nvPr>
        </p:nvSpPr>
        <p:spPr>
          <a:xfrm>
            <a:off x="671250" y="2141250"/>
            <a:ext cx="7852200" cy="861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Switching To Walkthrough of System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What’s Next?</a:t>
            </a:r>
            <a:endParaRPr/>
          </a:p>
        </p:txBody>
      </p:sp>
      <p:sp>
        <p:nvSpPr>
          <p:cNvPr id="144" name="Google Shape;144;p2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-US" sz="2200" dirty="0">
                <a:solidFill>
                  <a:schemeClr val="dk1"/>
                </a:solidFill>
              </a:rPr>
              <a:t>Finishing Implementation</a:t>
            </a:r>
            <a:endParaRPr sz="22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2200" dirty="0">
              <a:solidFill>
                <a:schemeClr val="dk1"/>
              </a:solidFill>
            </a:endParaRPr>
          </a:p>
          <a:p>
            <a:pPr marL="457200" lvl="0" indent="-3683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-US" sz="2200" dirty="0">
                <a:solidFill>
                  <a:schemeClr val="dk1"/>
                </a:solidFill>
              </a:rPr>
              <a:t>Test routes/and clarity</a:t>
            </a:r>
            <a:endParaRPr sz="22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2200" dirty="0">
              <a:solidFill>
                <a:schemeClr val="dk1"/>
              </a:solidFill>
            </a:endParaRPr>
          </a:p>
          <a:p>
            <a:pPr marL="457200" lvl="0" indent="-3683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" sz="2200" dirty="0">
                <a:solidFill>
                  <a:schemeClr val="dk1"/>
                </a:solidFill>
              </a:rPr>
              <a:t>Build AWS RDS</a:t>
            </a:r>
            <a:endParaRPr sz="2200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7"/>
          <p:cNvSpPr txBox="1">
            <a:spLocks noGrp="1"/>
          </p:cNvSpPr>
          <p:nvPr>
            <p:ph type="title"/>
          </p:nvPr>
        </p:nvSpPr>
        <p:spPr>
          <a:xfrm>
            <a:off x="671250" y="2141250"/>
            <a:ext cx="7852200" cy="861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Questions?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late">
  <a:themeElements>
    <a:clrScheme name="Slate">
      <a:dk1>
        <a:srgbClr val="FFFFFF"/>
      </a:dk1>
      <a:lt1>
        <a:srgbClr val="37474F"/>
      </a:lt1>
      <a:dk2>
        <a:srgbClr val="9E9E9E"/>
      </a:dk2>
      <a:lt2>
        <a:srgbClr val="E0E0E0"/>
      </a:lt2>
      <a:accent1>
        <a:srgbClr val="616161"/>
      </a:accent1>
      <a:accent2>
        <a:srgbClr val="78909C"/>
      </a:accent2>
      <a:accent3>
        <a:srgbClr val="CACACA"/>
      </a:accent3>
      <a:accent4>
        <a:srgbClr val="64FFDA"/>
      </a:accent4>
      <a:accent5>
        <a:srgbClr val="FFD966"/>
      </a:accent5>
      <a:accent6>
        <a:srgbClr val="F5F5F5"/>
      </a:accent6>
      <a:hlink>
        <a:srgbClr val="FFD966"/>
      </a:hlink>
      <a:folHlink>
        <a:srgbClr val="FFD96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414</TotalTime>
  <Words>251</Words>
  <Application>Microsoft Office PowerPoint</Application>
  <PresentationFormat>On-screen Show (16:9)</PresentationFormat>
  <Paragraphs>48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Oswald</vt:lpstr>
      <vt:lpstr>Arial</vt:lpstr>
      <vt:lpstr>Average</vt:lpstr>
      <vt:lpstr>Times New Roman</vt:lpstr>
      <vt:lpstr>Slate</vt:lpstr>
      <vt:lpstr>The CMMC Fledge System</vt:lpstr>
      <vt:lpstr>Topics</vt:lpstr>
      <vt:lpstr>Background</vt:lpstr>
      <vt:lpstr>What is CMMC Fledge?</vt:lpstr>
      <vt:lpstr>Progress from last milestone</vt:lpstr>
      <vt:lpstr>Switching To Walkthrough of System</vt:lpstr>
      <vt:lpstr>What’s Next?</vt:lpstr>
      <vt:lpstr>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Connor McFarren</cp:lastModifiedBy>
  <cp:revision>15</cp:revision>
  <dcterms:modified xsi:type="dcterms:W3CDTF">2025-11-04T11:32:06Z</dcterms:modified>
</cp:coreProperties>
</file>